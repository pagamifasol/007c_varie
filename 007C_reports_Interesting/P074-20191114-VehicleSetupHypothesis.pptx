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0" r:id="rId2"/>
  </p:sldMasterIdLst>
  <p:sldIdLst>
    <p:sldId id="260" r:id="rId3"/>
    <p:sldId id="261" r:id="rId4"/>
    <p:sldId id="262" r:id="rId5"/>
    <p:sldId id="256" r:id="rId6"/>
    <p:sldId id="263" r:id="rId7"/>
    <p:sldId id="257" r:id="rId8"/>
    <p:sldId id="259" r:id="rId9"/>
    <p:sldId id="258" r:id="rId10"/>
    <p:sldId id="264" r:id="rId11"/>
    <p:sldId id="265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>
        <p:scale>
          <a:sx n="80" d="100"/>
          <a:sy n="80" d="100"/>
        </p:scale>
        <p:origin x="227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Damper Force [N] vs Speed [m/s]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Front</c:v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'LMP-Front'!$N$12:$N$18</c:f>
              <c:numCache>
                <c:formatCode>General</c:formatCode>
                <c:ptCount val="7"/>
                <c:pt idx="0" formatCode="0">
                  <c:v>-1000</c:v>
                </c:pt>
                <c:pt idx="1">
                  <c:v>-600</c:v>
                </c:pt>
                <c:pt idx="2" formatCode="0">
                  <c:v>-200</c:v>
                </c:pt>
                <c:pt idx="3" formatCode="0">
                  <c:v>0</c:v>
                </c:pt>
                <c:pt idx="4" formatCode="0">
                  <c:v>200</c:v>
                </c:pt>
                <c:pt idx="5">
                  <c:v>600</c:v>
                </c:pt>
                <c:pt idx="6" formatCode="0">
                  <c:v>1000</c:v>
                </c:pt>
              </c:numCache>
            </c:numRef>
          </c:xVal>
          <c:yVal>
            <c:numRef>
              <c:f>'LMP-Front'!$O$12:$O$18</c:f>
              <c:numCache>
                <c:formatCode>0</c:formatCode>
                <c:ptCount val="7"/>
                <c:pt idx="0">
                  <c:v>-13281.23272205182</c:v>
                </c:pt>
                <c:pt idx="1">
                  <c:v>-9705.5162199609458</c:v>
                </c:pt>
                <c:pt idx="2">
                  <c:v>-6129.7997178700716</c:v>
                </c:pt>
                <c:pt idx="3">
                  <c:v>0</c:v>
                </c:pt>
                <c:pt idx="4">
                  <c:v>1529.4874656236971</c:v>
                </c:pt>
                <c:pt idx="5">
                  <c:v>3058.9749312473941</c:v>
                </c:pt>
                <c:pt idx="6">
                  <c:v>4588.4623968710912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2D3-4B31-A579-90C84AA90F1B}"/>
            </c:ext>
          </c:extLst>
        </c:ser>
        <c:ser>
          <c:idx val="1"/>
          <c:order val="1"/>
          <c:tx>
            <c:v>Rear</c:v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'LMP-Rear'!$N$12:$N$18</c:f>
              <c:numCache>
                <c:formatCode>General</c:formatCode>
                <c:ptCount val="7"/>
                <c:pt idx="0" formatCode="0">
                  <c:v>-1000</c:v>
                </c:pt>
                <c:pt idx="1">
                  <c:v>-600</c:v>
                </c:pt>
                <c:pt idx="2" formatCode="0">
                  <c:v>-200</c:v>
                </c:pt>
                <c:pt idx="3" formatCode="0">
                  <c:v>0</c:v>
                </c:pt>
                <c:pt idx="4" formatCode="0">
                  <c:v>200</c:v>
                </c:pt>
                <c:pt idx="5">
                  <c:v>600</c:v>
                </c:pt>
                <c:pt idx="6" formatCode="0">
                  <c:v>1000</c:v>
                </c:pt>
              </c:numCache>
            </c:numRef>
          </c:xVal>
          <c:yVal>
            <c:numRef>
              <c:f>'LMP-Rear'!$O$12:$O$18</c:f>
              <c:numCache>
                <c:formatCode>0</c:formatCode>
                <c:ptCount val="7"/>
                <c:pt idx="0">
                  <c:v>-13461.626690461297</c:v>
                </c:pt>
                <c:pt idx="1">
                  <c:v>-9837.3425814909479</c:v>
                </c:pt>
                <c:pt idx="2">
                  <c:v>-6213.058472520599</c:v>
                </c:pt>
                <c:pt idx="3">
                  <c:v>0</c:v>
                </c:pt>
                <c:pt idx="4">
                  <c:v>1500.8963938260365</c:v>
                </c:pt>
                <c:pt idx="5">
                  <c:v>3001.792787652073</c:v>
                </c:pt>
                <c:pt idx="6">
                  <c:v>4502.6891814781093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2D3-4B31-A579-90C84AA90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5376688"/>
        <c:axId val="812520000"/>
      </c:scatterChart>
      <c:valAx>
        <c:axId val="1515376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2520000"/>
        <c:crosses val="autoZero"/>
        <c:crossBetween val="midCat"/>
      </c:valAx>
      <c:valAx>
        <c:axId val="812520000"/>
        <c:scaling>
          <c:orientation val="minMax"/>
          <c:max val="7000"/>
          <c:min val="-1400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5376688"/>
        <c:crosses val="autoZero"/>
        <c:crossBetween val="midCat"/>
        <c:majorUnit val="50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07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3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7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075C7FC-0F76-4ED8-A925-DC0EE55B3F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04849" y="3997895"/>
            <a:ext cx="9413372" cy="562570"/>
          </a:xfrm>
        </p:spPr>
        <p:txBody>
          <a:bodyPr anchor="b">
            <a:noAutofit/>
          </a:bodyPr>
          <a:lstStyle>
            <a:lvl1pPr marL="742950" indent="-742950">
              <a:buFont typeface="+mj-lt"/>
              <a:buAutoNum type="arabicPeriod"/>
              <a:defRPr lang="en-US" sz="3600" b="0" i="0" kern="1200" cap="all" dirty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1. 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3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9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7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59420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75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73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262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156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11025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3620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3462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37144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1595015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504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26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08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5209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88241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917937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66431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9434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706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3164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06374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323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4169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9705668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768092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8678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3902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99934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78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674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032543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430431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0FD8-6C13-4200-9BEF-D0102C7D1B13}" type="datetimeFigureOut">
              <a:rPr lang="en-US" smtClean="0"/>
              <a:t>11/14/2019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325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787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4712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33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75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46C4B4-58E4-1144-B4D6-C2E8EDC13A13}"/>
              </a:ext>
            </a:extLst>
          </p:cNvPr>
          <p:cNvSpPr txBox="1">
            <a:spLocks/>
          </p:cNvSpPr>
          <p:nvPr/>
        </p:nvSpPr>
        <p:spPr>
          <a:xfrm>
            <a:off x="227012" y="3991571"/>
            <a:ext cx="8402637" cy="1021556"/>
          </a:xfrm>
          <a:prstGeom prst="rect">
            <a:avLst/>
          </a:prstGeom>
        </p:spPr>
        <p:txBody>
          <a:bodyPr vert="horz" lIns="251999" tIns="72000" rIns="90000" bIns="3600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cap="all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1.LOREM IPSUM DOLOR SIT AMET</a:t>
            </a:r>
            <a:endParaRPr lang="en-JM" dirty="0">
              <a:solidFill>
                <a:schemeClr val="bg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19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80545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567647C-CB63-CD46-975F-F1AE9CB671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38249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3EABD9A-1E60-9F48-98F1-A58CA5B7BFF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7385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06D3980-AFC0-E744-98AC-4B22529D99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01477" y="2341895"/>
            <a:ext cx="1315504" cy="1224807"/>
          </a:xfrm>
          <a:prstGeom prst="rect">
            <a:avLst/>
          </a:prstGeom>
        </p:spPr>
        <p:txBody>
          <a:bodyPr vert="horz" lIns="0" tIns="103884" rIns="0" bIns="103884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icona</a:t>
            </a:r>
            <a:endParaRPr lang="es-ES_tradnl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717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1666004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0089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31526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57244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47105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13061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40816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82185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423187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5064128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652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187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754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2582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992230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505806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2631629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6924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1164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813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73821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6038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81064967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2459491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608748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02847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51321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R01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52484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005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2083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91437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632055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2363499-1968-4D25-87EA-7DA5AC604E8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9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R01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6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59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8AEA9-D6F1-49FD-9A22-C9E1454F9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SCG 007C – 14</a:t>
            </a:r>
            <a:r>
              <a:rPr lang="en-US" baseline="30000" dirty="0"/>
              <a:t>th</a:t>
            </a:r>
            <a:r>
              <a:rPr lang="en-US" dirty="0"/>
              <a:t> November 2019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32A47-B79C-4F87-8410-7B01BC6134B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04849" y="3997894"/>
            <a:ext cx="9413372" cy="2186337"/>
          </a:xfrm>
        </p:spPr>
        <p:txBody>
          <a:bodyPr anchor="t"/>
          <a:lstStyle/>
          <a:p>
            <a:r>
              <a:rPr lang="en-US" sz="2400" dirty="0"/>
              <a:t>Vehicle setup for simulations</a:t>
            </a:r>
          </a:p>
          <a:p>
            <a:r>
              <a:rPr lang="en-US" sz="2400" dirty="0"/>
              <a:t>Ride heights vs speed</a:t>
            </a:r>
          </a:p>
          <a:p>
            <a:r>
              <a:rPr lang="en-US" sz="2400" dirty="0"/>
              <a:t>Straight line braking</a:t>
            </a:r>
          </a:p>
          <a:p>
            <a:r>
              <a:rPr lang="en-US" sz="2400" dirty="0"/>
              <a:t>Constant speed cornering</a:t>
            </a:r>
          </a:p>
        </p:txBody>
      </p:sp>
    </p:spTree>
    <p:extLst>
      <p:ext uri="{BB962C8B-B14F-4D97-AF65-F5344CB8AC3E}">
        <p14:creationId xmlns:p14="http://schemas.microsoft.com/office/powerpoint/2010/main" val="105413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5C1142-4A2B-49D4-8B1E-B9C4F46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A1F8A4-3194-40FA-A19F-DA92387607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013" y="1275347"/>
            <a:ext cx="11737975" cy="4890504"/>
          </a:xfrm>
        </p:spPr>
        <p:txBody>
          <a:bodyPr/>
          <a:lstStyle/>
          <a:p>
            <a:r>
              <a:rPr lang="en-US" sz="1600" dirty="0"/>
              <a:t>A vehicle setup (stiffnesses and damping) has been hypothesized by considering the following constraints/assumptions:</a:t>
            </a:r>
          </a:p>
          <a:p>
            <a:pPr marL="971550" lvl="1" indent="-285750"/>
            <a:r>
              <a:rPr lang="en-US" sz="1600" dirty="0"/>
              <a:t>Given hypothesis of static ride heights (70mm front, 90mm rear)</a:t>
            </a:r>
          </a:p>
          <a:p>
            <a:pPr marL="971550" lvl="1" indent="-285750"/>
            <a:r>
              <a:rPr lang="en-US" sz="1600" dirty="0"/>
              <a:t>Exploit all the available static rake to reduce stiffness at rear (flat car at top speed)</a:t>
            </a:r>
          </a:p>
          <a:p>
            <a:pPr marL="971550" lvl="1" indent="-285750"/>
            <a:r>
              <a:rPr lang="en-US" sz="1600" dirty="0"/>
              <a:t>Hypothesis of kinematic roll gradient 0.4deg/g (2deg of maximum total, with tires, achieved)</a:t>
            </a:r>
          </a:p>
          <a:p>
            <a:pPr marL="971550" lvl="1" indent="-285750"/>
            <a:r>
              <a:rPr lang="en-US" sz="1600" dirty="0"/>
              <a:t>Top speed skid clearance 8mm front and rear (was 5, increased for braking necessities)</a:t>
            </a:r>
          </a:p>
          <a:p>
            <a:pPr marL="971550" lvl="1" indent="-285750"/>
            <a:r>
              <a:rPr lang="en-US" sz="1600" dirty="0"/>
              <a:t>No need for rear anti-roll bar</a:t>
            </a:r>
          </a:p>
          <a:p>
            <a:pPr marL="971550" lvl="1" indent="-285750"/>
            <a:r>
              <a:rPr lang="en-US" sz="1600" dirty="0"/>
              <a:t>60% front elastic roll distribution</a:t>
            </a:r>
          </a:p>
          <a:p>
            <a:pPr marL="971550" lvl="1" indent="-285750"/>
            <a:r>
              <a:rPr lang="en-US" sz="1600" dirty="0"/>
              <a:t>Minimize heave bump-stop force (oscillation in high speed braking or higher heave damping needed)</a:t>
            </a:r>
          </a:p>
          <a:p>
            <a:pPr marL="971550" lvl="1" indent="-285750"/>
            <a:r>
              <a:rPr lang="en-US" sz="1600" dirty="0"/>
              <a:t>All others: specifications document agreed parameters</a:t>
            </a:r>
          </a:p>
          <a:p>
            <a:pPr marL="971550" lvl="1" indent="-2857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984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FDC9E-21C1-4EB3-A969-AC5EA186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setup for simulations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46A5FD3-C8D6-42D8-88E3-F0B1EA816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193150"/>
              </p:ext>
            </p:extLst>
          </p:nvPr>
        </p:nvGraphicFramePr>
        <p:xfrm>
          <a:off x="227012" y="1205564"/>
          <a:ext cx="11737976" cy="5029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93154">
                  <a:extLst>
                    <a:ext uri="{9D8B030D-6E8A-4147-A177-3AD203B41FA5}">
                      <a16:colId xmlns:a16="http://schemas.microsoft.com/office/drawing/2014/main" val="1814584248"/>
                    </a:ext>
                  </a:extLst>
                </a:gridCol>
                <a:gridCol w="2575834">
                  <a:extLst>
                    <a:ext uri="{9D8B030D-6E8A-4147-A177-3AD203B41FA5}">
                      <a16:colId xmlns:a16="http://schemas.microsoft.com/office/drawing/2014/main" val="1680655759"/>
                    </a:ext>
                  </a:extLst>
                </a:gridCol>
                <a:gridCol w="2934494">
                  <a:extLst>
                    <a:ext uri="{9D8B030D-6E8A-4147-A177-3AD203B41FA5}">
                      <a16:colId xmlns:a16="http://schemas.microsoft.com/office/drawing/2014/main" val="3522229697"/>
                    </a:ext>
                  </a:extLst>
                </a:gridCol>
                <a:gridCol w="2934494">
                  <a:extLst>
                    <a:ext uri="{9D8B030D-6E8A-4147-A177-3AD203B41FA5}">
                      <a16:colId xmlns:a16="http://schemas.microsoft.com/office/drawing/2014/main" val="4003036255"/>
                    </a:ext>
                  </a:extLst>
                </a:gridCol>
              </a:tblGrid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2338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Corner spring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N/mm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66377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1-dof natural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868999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2-dof natural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75571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91190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ARB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Nm/deg of 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52359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Elastic roll stiffness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F/R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423557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spring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N/mm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5762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r>
                        <a:rPr lang="en-US" sz="1200" baseline="30000" dirty="0"/>
                        <a:t>rd</a:t>
                      </a:r>
                      <a:r>
                        <a:rPr lang="en-US" sz="1200" dirty="0"/>
                        <a:t> bump-stop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2000N (KW RD60 20mm)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1400N (KW RD60 20mm)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 @ top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365606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556732"/>
                  </a:ext>
                </a:extLst>
              </a:tr>
              <a:tr h="312493">
                <a:tc>
                  <a:txBody>
                    <a:bodyPr/>
                    <a:lstStyle/>
                    <a:p>
                      <a:r>
                        <a:rPr lang="en-US" sz="1200" dirty="0"/>
                        <a:t>Corner damper LS (&lt;200mm/s)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1.2 bump</a:t>
                      </a:r>
                    </a:p>
                    <a:p>
                      <a:r>
                        <a:rPr lang="en-US" sz="1200" dirty="0"/>
                        <a:t>0.7 rebound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1.2 bump</a:t>
                      </a:r>
                    </a:p>
                    <a:p>
                      <a:r>
                        <a:rPr lang="en-US" sz="1200" dirty="0"/>
                        <a:t>0.7 rebound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Damping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740863"/>
                  </a:ext>
                </a:extLst>
              </a:tr>
              <a:tr h="312493">
                <a:tc>
                  <a:txBody>
                    <a:bodyPr/>
                    <a:lstStyle/>
                    <a:p>
                      <a:r>
                        <a:rPr lang="en-US" sz="1200" dirty="0"/>
                        <a:t>Corner damper HS (200&lt;&gt;1000m/s)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0.35 bump</a:t>
                      </a:r>
                    </a:p>
                    <a:p>
                      <a:r>
                        <a:rPr lang="en-US" sz="1200" dirty="0"/>
                        <a:t>0.35 rebound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0.35 bump</a:t>
                      </a:r>
                    </a:p>
                    <a:p>
                      <a:r>
                        <a:rPr lang="en-US" sz="1200" dirty="0"/>
                        <a:t>0.35 rebound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Damping ratio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152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Center damper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37805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553739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Static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909428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Static skid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03766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Tire vertical stiffness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N/mm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05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54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FDC9E-21C1-4EB3-A969-AC5EA186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Damping hypothesis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14243A-7090-4C06-988C-4D05E677E35E}"/>
              </a:ext>
            </a:extLst>
          </p:cNvPr>
          <p:cNvSpPr txBox="1"/>
          <p:nvPr/>
        </p:nvSpPr>
        <p:spPr>
          <a:xfrm>
            <a:off x="0" y="1183545"/>
            <a:ext cx="3770563" cy="1786941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Damping coefficients obtained by fitting damper curve of best setup of 003C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Bilinear damper approximation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F968C6-AC6E-41AB-B864-0DB9F0324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46150"/>
              </p:ext>
            </p:extLst>
          </p:nvPr>
        </p:nvGraphicFramePr>
        <p:xfrm>
          <a:off x="4909889" y="1792582"/>
          <a:ext cx="7023100" cy="1381125"/>
        </p:xfrm>
        <a:graphic>
          <a:graphicData uri="http://schemas.openxmlformats.org/drawingml/2006/table">
            <a:tbl>
              <a:tblPr/>
              <a:tblGrid>
                <a:gridCol w="927100">
                  <a:extLst>
                    <a:ext uri="{9D8B030D-6E8A-4147-A177-3AD203B41FA5}">
                      <a16:colId xmlns:a16="http://schemas.microsoft.com/office/drawing/2014/main" val="13908838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82408328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222775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154143616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133018807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42563034"/>
                    </a:ext>
                  </a:extLst>
                </a:gridCol>
              </a:tblGrid>
              <a:tr h="2000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Speed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Bypass Velocity [m/s]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ζ 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Damping Ratio)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(Damping Coeff.) [N/(m/s)]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 [N]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36059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LS-Bump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-0.200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29610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-5922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53684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LS-Rebound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7388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1478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909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60377"/>
                  </a:ext>
                </a:extLst>
              </a:tr>
              <a:tr h="2000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Speed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Max. Velocity [m/s]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ζ 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Damping Ratio)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(Damping Coeff.) [N/(m/s)]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 [N]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9113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HS-Bump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-1.000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8636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-12831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467670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HS-Rebound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3694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4433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2494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61DBF4-990A-41F1-873B-26493C6E8357}"/>
              </a:ext>
            </a:extLst>
          </p:cNvPr>
          <p:cNvSpPr txBox="1"/>
          <p:nvPr/>
        </p:nvSpPr>
        <p:spPr>
          <a:xfrm>
            <a:off x="4909889" y="1238500"/>
            <a:ext cx="7023100" cy="400676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Front [</a:t>
            </a:r>
            <a:r>
              <a:rPr lang="en-US" dirty="0" err="1">
                <a:solidFill>
                  <a:schemeClr val="tx2"/>
                </a:solidFill>
              </a:rPr>
              <a:t>u.m.</a:t>
            </a:r>
            <a:r>
              <a:rPr lang="en-US" dirty="0">
                <a:solidFill>
                  <a:schemeClr val="tx2"/>
                </a:solidFill>
              </a:rPr>
              <a:t> 245kg, </a:t>
            </a:r>
            <a:r>
              <a:rPr lang="en-US" dirty="0" err="1">
                <a:solidFill>
                  <a:schemeClr val="tx2"/>
                </a:solidFill>
              </a:rPr>
              <a:t>s.m</a:t>
            </a:r>
            <a:r>
              <a:rPr lang="en-US" dirty="0">
                <a:solidFill>
                  <a:schemeClr val="tx2"/>
                </a:solidFill>
              </a:rPr>
              <a:t>. 45kg, k 150N/mm]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B746480-A57B-4D54-AB53-2BCC0BC5F4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6639724"/>
              </p:ext>
            </p:extLst>
          </p:nvPr>
        </p:nvGraphicFramePr>
        <p:xfrm>
          <a:off x="255502" y="3173707"/>
          <a:ext cx="4410075" cy="2867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D372322-5A9B-4AF4-AD19-7A5FC5594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2300"/>
              </p:ext>
            </p:extLst>
          </p:nvPr>
        </p:nvGraphicFramePr>
        <p:xfrm>
          <a:off x="4913398" y="4038037"/>
          <a:ext cx="7023100" cy="1381125"/>
        </p:xfrm>
        <a:graphic>
          <a:graphicData uri="http://schemas.openxmlformats.org/drawingml/2006/table">
            <a:tbl>
              <a:tblPr/>
              <a:tblGrid>
                <a:gridCol w="927100">
                  <a:extLst>
                    <a:ext uri="{9D8B030D-6E8A-4147-A177-3AD203B41FA5}">
                      <a16:colId xmlns:a16="http://schemas.microsoft.com/office/drawing/2014/main" val="138296763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57437081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25197284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17508813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1630923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35237942"/>
                    </a:ext>
                  </a:extLst>
                </a:gridCol>
              </a:tblGrid>
              <a:tr h="2000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Speed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Bypass Velocity [m/s]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ζ 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Damping Ratio)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(Damping Coeff.) [N/(m/s)]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 [N]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36305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LS-Bump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-0.200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31065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-6213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65072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LS-Rebound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7504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1501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78307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134400"/>
                  </a:ext>
                </a:extLst>
              </a:tr>
              <a:tr h="2000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Speed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Max. Velocity [m/s]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l-G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ζ 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Damping Ratio)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 (Damping Coeff.) [N/(m/s)]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 [N]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71643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HS-Bump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-1.000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9061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-13462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537431"/>
                  </a:ext>
                </a:extLst>
              </a:tr>
              <a:tr h="20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HS-Rebound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1.000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3F3F76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FA7D00"/>
                          </a:solidFill>
                          <a:effectLst/>
                          <a:latin typeface="Calibri" panose="020F0502020204030204" pitchFamily="34" charset="0"/>
                        </a:rPr>
                        <a:t>3752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3F3F3F"/>
                          </a:solidFill>
                          <a:effectLst/>
                          <a:latin typeface="Calibri" panose="020F0502020204030204" pitchFamily="34" charset="0"/>
                        </a:rPr>
                        <a:t>4503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918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3EB2362-E56C-478D-B431-6DA082E563FF}"/>
              </a:ext>
            </a:extLst>
          </p:cNvPr>
          <p:cNvSpPr txBox="1"/>
          <p:nvPr/>
        </p:nvSpPr>
        <p:spPr>
          <a:xfrm>
            <a:off x="4909889" y="3457392"/>
            <a:ext cx="7023100" cy="400676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Rear [</a:t>
            </a:r>
            <a:r>
              <a:rPr lang="en-US" dirty="0" err="1">
                <a:solidFill>
                  <a:schemeClr val="tx2"/>
                </a:solidFill>
              </a:rPr>
              <a:t>u.m.</a:t>
            </a:r>
            <a:r>
              <a:rPr lang="en-US" dirty="0">
                <a:solidFill>
                  <a:schemeClr val="tx2"/>
                </a:solidFill>
              </a:rPr>
              <a:t> 265kg, </a:t>
            </a:r>
            <a:r>
              <a:rPr lang="en-US" dirty="0" err="1">
                <a:solidFill>
                  <a:schemeClr val="tx2"/>
                </a:solidFill>
              </a:rPr>
              <a:t>s.m</a:t>
            </a:r>
            <a:r>
              <a:rPr lang="en-US" dirty="0">
                <a:solidFill>
                  <a:schemeClr val="tx2"/>
                </a:solidFill>
              </a:rPr>
              <a:t>. 50kg, k 130N/mm]</a:t>
            </a:r>
          </a:p>
        </p:txBody>
      </p:sp>
    </p:spTree>
    <p:extLst>
      <p:ext uri="{BB962C8B-B14F-4D97-AF65-F5344CB8AC3E}">
        <p14:creationId xmlns:p14="http://schemas.microsoft.com/office/powerpoint/2010/main" val="326801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4924-7CEB-4C39-9D3C-C5864C6E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Straight Line Coasting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29B7145E-7E5F-459E-B2DF-0D9C69D8A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81485"/>
              </p:ext>
            </p:extLst>
          </p:nvPr>
        </p:nvGraphicFramePr>
        <p:xfrm>
          <a:off x="294744" y="1243104"/>
          <a:ext cx="4006322" cy="32918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98500">
                  <a:extLst>
                    <a:ext uri="{9D8B030D-6E8A-4147-A177-3AD203B41FA5}">
                      <a16:colId xmlns:a16="http://schemas.microsoft.com/office/drawing/2014/main" val="1814584248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6806557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22229697"/>
                    </a:ext>
                  </a:extLst>
                </a:gridCol>
                <a:gridCol w="654755">
                  <a:extLst>
                    <a:ext uri="{9D8B030D-6E8A-4147-A177-3AD203B41FA5}">
                      <a16:colId xmlns:a16="http://schemas.microsoft.com/office/drawing/2014/main" val="4003036255"/>
                    </a:ext>
                  </a:extLst>
                </a:gridCol>
              </a:tblGrid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Front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2338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Top speed 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5034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Top speed skid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324897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Top speed tire deflection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15024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Max. suspension 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3037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Max. bump-stop 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2036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0829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Top speed bump-stop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36807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Bump-stop engage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km/h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7168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Average bump-stop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N/mm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92486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Max. suspension 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8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Max. bump-stop 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75362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590CCE6E-4535-401A-B36F-A78557003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194" y="1243104"/>
            <a:ext cx="7000753" cy="490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7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C2D1-3A37-4AF0-B9F8-B5A1FD05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Speed Braking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E0932306-1463-4295-A367-AA0A1E9E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658522"/>
              </p:ext>
            </p:extLst>
          </p:nvPr>
        </p:nvGraphicFramePr>
        <p:xfrm>
          <a:off x="283456" y="1309410"/>
          <a:ext cx="4006322" cy="3657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98500">
                  <a:extLst>
                    <a:ext uri="{9D8B030D-6E8A-4147-A177-3AD203B41FA5}">
                      <a16:colId xmlns:a16="http://schemas.microsoft.com/office/drawing/2014/main" val="1814584248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6806557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22229697"/>
                    </a:ext>
                  </a:extLst>
                </a:gridCol>
                <a:gridCol w="654755">
                  <a:extLst>
                    <a:ext uri="{9D8B030D-6E8A-4147-A177-3AD203B41FA5}">
                      <a16:colId xmlns:a16="http://schemas.microsoft.com/office/drawing/2014/main" val="4003036255"/>
                    </a:ext>
                  </a:extLst>
                </a:gridCol>
              </a:tblGrid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Front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2338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Maximum deceleration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4.54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613316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867198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Maximum tire deflection</a:t>
                      </a:r>
                    </a:p>
                    <a:p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wrt</a:t>
                      </a:r>
                      <a:r>
                        <a:rPr lang="en-US" sz="1200" dirty="0"/>
                        <a:t> static)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5034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Maximum tire deflection</a:t>
                      </a:r>
                    </a:p>
                    <a:p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wrt</a:t>
                      </a:r>
                      <a:r>
                        <a:rPr lang="en-US" sz="1200" dirty="0"/>
                        <a:t> top speed not braking)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324897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15024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Minimum skid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3037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2036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Ride Heights at max. </a:t>
                      </a:r>
                      <a:r>
                        <a:rPr lang="en-US" sz="1200" dirty="0" err="1"/>
                        <a:t>decel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00829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34614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 err="1"/>
                        <a:t>Fx</a:t>
                      </a:r>
                      <a:r>
                        <a:rPr lang="en-US" sz="1200" dirty="0"/>
                        <a:t> brake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35302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Peak </a:t>
                      </a:r>
                      <a:r>
                        <a:rPr lang="en-US" sz="1200" dirty="0" err="1"/>
                        <a:t>Fx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kN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07105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856CB55-188B-4C1A-B0C9-BBB6A3CB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31" y="1309410"/>
            <a:ext cx="7536116" cy="4836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82D8D2-C8C9-4823-8B16-5465BA8524DD}"/>
              </a:ext>
            </a:extLst>
          </p:cNvPr>
          <p:cNvSpPr txBox="1"/>
          <p:nvPr/>
        </p:nvSpPr>
        <p:spPr>
          <a:xfrm>
            <a:off x="4752473" y="1309410"/>
            <a:ext cx="1696453" cy="421105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Skid clearance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196B9-D940-4680-AAEF-8EBE74995214}"/>
              </a:ext>
            </a:extLst>
          </p:cNvPr>
          <p:cNvSpPr txBox="1"/>
          <p:nvPr/>
        </p:nvSpPr>
        <p:spPr>
          <a:xfrm>
            <a:off x="6436894" y="3007895"/>
            <a:ext cx="1696453" cy="421105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Bump-stop force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46A1F-2D3F-43B3-812D-84C57ABD3848}"/>
              </a:ext>
            </a:extLst>
          </p:cNvPr>
          <p:cNvSpPr txBox="1"/>
          <p:nvPr/>
        </p:nvSpPr>
        <p:spPr>
          <a:xfrm>
            <a:off x="6575836" y="4668253"/>
            <a:ext cx="3193806" cy="421105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Suspension travel (positive bump)</a:t>
            </a:r>
          </a:p>
        </p:txBody>
      </p:sp>
    </p:spTree>
    <p:extLst>
      <p:ext uri="{BB962C8B-B14F-4D97-AF65-F5344CB8AC3E}">
        <p14:creationId xmlns:p14="http://schemas.microsoft.com/office/powerpoint/2010/main" val="321515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4924-7CEB-4C39-9D3C-C5864C6E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Speed Steer Ramp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23FA60CE-A86C-40C4-92BF-22524EA60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53000"/>
              </p:ext>
            </p:extLst>
          </p:nvPr>
        </p:nvGraphicFramePr>
        <p:xfrm>
          <a:off x="227013" y="1320699"/>
          <a:ext cx="11737974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7734">
                  <a:extLst>
                    <a:ext uri="{9D8B030D-6E8A-4147-A177-3AD203B41FA5}">
                      <a16:colId xmlns:a16="http://schemas.microsoft.com/office/drawing/2014/main" val="1680655759"/>
                    </a:ext>
                  </a:extLst>
                </a:gridCol>
                <a:gridCol w="736799">
                  <a:extLst>
                    <a:ext uri="{9D8B030D-6E8A-4147-A177-3AD203B41FA5}">
                      <a16:colId xmlns:a16="http://schemas.microsoft.com/office/drawing/2014/main" val="3522229697"/>
                    </a:ext>
                  </a:extLst>
                </a:gridCol>
                <a:gridCol w="1170991">
                  <a:extLst>
                    <a:ext uri="{9D8B030D-6E8A-4147-A177-3AD203B41FA5}">
                      <a16:colId xmlns:a16="http://schemas.microsoft.com/office/drawing/2014/main" val="1815371459"/>
                    </a:ext>
                  </a:extLst>
                </a:gridCol>
                <a:gridCol w="1061156">
                  <a:extLst>
                    <a:ext uri="{9D8B030D-6E8A-4147-A177-3AD203B41FA5}">
                      <a16:colId xmlns:a16="http://schemas.microsoft.com/office/drawing/2014/main" val="3924895077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097548712"/>
                    </a:ext>
                  </a:extLst>
                </a:gridCol>
                <a:gridCol w="1004711">
                  <a:extLst>
                    <a:ext uri="{9D8B030D-6E8A-4147-A177-3AD203B41FA5}">
                      <a16:colId xmlns:a16="http://schemas.microsoft.com/office/drawing/2014/main" val="3063567662"/>
                    </a:ext>
                  </a:extLst>
                </a:gridCol>
                <a:gridCol w="1532908">
                  <a:extLst>
                    <a:ext uri="{9D8B030D-6E8A-4147-A177-3AD203B41FA5}">
                      <a16:colId xmlns:a16="http://schemas.microsoft.com/office/drawing/2014/main" val="2093868345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4003036255"/>
                    </a:ext>
                  </a:extLst>
                </a:gridCol>
                <a:gridCol w="649706">
                  <a:extLst>
                    <a:ext uri="{9D8B030D-6E8A-4147-A177-3AD203B41FA5}">
                      <a16:colId xmlns:a16="http://schemas.microsoft.com/office/drawing/2014/main" val="3446247811"/>
                    </a:ext>
                  </a:extLst>
                </a:gridCol>
                <a:gridCol w="553452">
                  <a:extLst>
                    <a:ext uri="{9D8B030D-6E8A-4147-A177-3AD203B41FA5}">
                      <a16:colId xmlns:a16="http://schemas.microsoft.com/office/drawing/2014/main" val="2731456078"/>
                    </a:ext>
                  </a:extLst>
                </a:gridCol>
                <a:gridCol w="691563">
                  <a:extLst>
                    <a:ext uri="{9D8B030D-6E8A-4147-A177-3AD203B41FA5}">
                      <a16:colId xmlns:a16="http://schemas.microsoft.com/office/drawing/2014/main" val="2316717654"/>
                    </a:ext>
                  </a:extLst>
                </a:gridCol>
                <a:gridCol w="458741">
                  <a:extLst>
                    <a:ext uri="{9D8B030D-6E8A-4147-A177-3AD203B41FA5}">
                      <a16:colId xmlns:a16="http://schemas.microsoft.com/office/drawing/2014/main" val="3977043606"/>
                    </a:ext>
                  </a:extLst>
                </a:gridCol>
                <a:gridCol w="486827">
                  <a:extLst>
                    <a:ext uri="{9D8B030D-6E8A-4147-A177-3AD203B41FA5}">
                      <a16:colId xmlns:a16="http://schemas.microsoft.com/office/drawing/2014/main" val="2005009654"/>
                    </a:ext>
                  </a:extLst>
                </a:gridCol>
                <a:gridCol w="505551">
                  <a:extLst>
                    <a:ext uri="{9D8B030D-6E8A-4147-A177-3AD203B41FA5}">
                      <a16:colId xmlns:a16="http://schemas.microsoft.com/office/drawing/2014/main" val="3832569641"/>
                    </a:ext>
                  </a:extLst>
                </a:gridCol>
                <a:gridCol w="485800">
                  <a:extLst>
                    <a:ext uri="{9D8B030D-6E8A-4147-A177-3AD203B41FA5}">
                      <a16:colId xmlns:a16="http://schemas.microsoft.com/office/drawing/2014/main" val="3753404240"/>
                    </a:ext>
                  </a:extLst>
                </a:gridCol>
              </a:tblGrid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Speed</a:t>
                      </a:r>
                    </a:p>
                    <a:p>
                      <a:r>
                        <a:rPr lang="en-US" sz="1200" dirty="0"/>
                        <a:t>[km/h]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ay,max</a:t>
                      </a:r>
                      <a:endParaRPr lang="en-US" sz="1200" dirty="0"/>
                    </a:p>
                    <a:p>
                      <a:r>
                        <a:rPr lang="en-US" sz="1200" dirty="0"/>
                        <a:t>[g]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 </a:t>
                      </a:r>
                      <a:r>
                        <a:rPr lang="en-US" sz="1200" dirty="0" err="1"/>
                        <a:t>Susp</a:t>
                      </a:r>
                      <a:r>
                        <a:rPr lang="en-US" sz="1200" dirty="0"/>
                        <a:t>. Roll [deg]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Max Total Roll [deg]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Kin. Roll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Total Roll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Suspension Travel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Minimum skid clearance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123380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387733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70692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49.1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350341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324897"/>
                  </a:ext>
                </a:extLst>
              </a:tr>
              <a:tr h="189728">
                <a:tc>
                  <a:txBody>
                    <a:bodyPr/>
                    <a:lstStyle/>
                    <a:p>
                      <a:r>
                        <a:rPr lang="en-US" sz="1200" dirty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61.8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1502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12B5A2-2E52-4AA0-991A-D26C66CC98FE}"/>
              </a:ext>
            </a:extLst>
          </p:cNvPr>
          <p:cNvSpPr txBox="1"/>
          <p:nvPr/>
        </p:nvSpPr>
        <p:spPr>
          <a:xfrm>
            <a:off x="227012" y="3549315"/>
            <a:ext cx="11737974" cy="1987985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Notes:</a:t>
            </a:r>
          </a:p>
          <a:p>
            <a:pPr marL="285750" indent="-285750" algn="l">
              <a:buFontTx/>
              <a:buChar char="-"/>
            </a:pPr>
            <a:r>
              <a:rPr lang="en-US" sz="1400" dirty="0">
                <a:solidFill>
                  <a:schemeClr val="tx2"/>
                </a:solidFill>
              </a:rPr>
              <a:t>Kinematic models of SCG 004C (R07), modified front LCA inboard points to match RCH 50mm (rear left at 95mm)</a:t>
            </a:r>
          </a:p>
          <a:p>
            <a:pPr marL="285750" indent="-285750" algn="l">
              <a:buFontTx/>
              <a:buChar char="-"/>
            </a:pPr>
            <a:r>
              <a:rPr lang="en-US" sz="1400" dirty="0">
                <a:solidFill>
                  <a:schemeClr val="tx2"/>
                </a:solidFill>
              </a:rPr>
              <a:t>Draft front kinematic of SCG007C shows higher roll center height VS bump movement (140% against 180%), further investigation needed, as higher roll/outside wheel bump travel may be expected.</a:t>
            </a:r>
          </a:p>
          <a:p>
            <a:pPr marL="285750" indent="-285750" algn="l">
              <a:buFontTx/>
              <a:buChar char="-"/>
            </a:pPr>
            <a:endParaRPr lang="en-US" sz="1400" dirty="0">
              <a:solidFill>
                <a:schemeClr val="tx2"/>
              </a:solidFill>
            </a:endParaRPr>
          </a:p>
          <a:p>
            <a:pPr marL="285750" indent="-285750" algn="l">
              <a:buFontTx/>
              <a:buChar char="-"/>
            </a:pPr>
            <a:r>
              <a:rPr lang="en-US" sz="1400" dirty="0">
                <a:solidFill>
                  <a:schemeClr val="tx2"/>
                </a:solidFill>
              </a:rPr>
              <a:t>Also important to check is matching of the front and rear roll center / jacking forces trends in bump.</a:t>
            </a:r>
          </a:p>
        </p:txBody>
      </p:sp>
    </p:spTree>
    <p:extLst>
      <p:ext uri="{BB962C8B-B14F-4D97-AF65-F5344CB8AC3E}">
        <p14:creationId xmlns:p14="http://schemas.microsoft.com/office/powerpoint/2010/main" val="337655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4924-7CEB-4C39-9D3C-C5864C6E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Speed Steer Ramp - Plots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76D36-AD37-4D48-A597-EB11D36F5636}"/>
              </a:ext>
            </a:extLst>
          </p:cNvPr>
          <p:cNvSpPr txBox="1"/>
          <p:nvPr/>
        </p:nvSpPr>
        <p:spPr>
          <a:xfrm>
            <a:off x="0" y="1203158"/>
            <a:ext cx="2010862" cy="2695075"/>
          </a:xfrm>
          <a:prstGeom prst="rect">
            <a:avLst/>
          </a:prstGeom>
        </p:spPr>
        <p:txBody>
          <a:bodyPr vert="horz" wrap="square" lIns="251999" tIns="72000" rIns="90000" bIns="36000" rtlCol="0" anchor="t">
            <a:normAutofit lnSpcReduction="10000"/>
          </a:bodyPr>
          <a:lstStyle/>
          <a:p>
            <a:pPr algn="l"/>
            <a:r>
              <a:rPr lang="en-US" sz="1400" dirty="0">
                <a:solidFill>
                  <a:schemeClr val="tx2"/>
                </a:solidFill>
              </a:rPr>
              <a:t>Suspension Jounce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FL	FR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RL	RR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- Positive bump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- Left corner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- Colors</a:t>
            </a:r>
          </a:p>
          <a:p>
            <a:pPr algn="l"/>
            <a:r>
              <a:rPr lang="en-US" sz="1400" dirty="0">
                <a:solidFill>
                  <a:srgbClr val="FF0000"/>
                </a:solidFill>
              </a:rPr>
              <a:t>80km/h</a:t>
            </a:r>
          </a:p>
          <a:p>
            <a:pPr algn="l"/>
            <a:r>
              <a:rPr lang="en-US" sz="1400" dirty="0">
                <a:solidFill>
                  <a:srgbClr val="00B0F0"/>
                </a:solidFill>
              </a:rPr>
              <a:t>160km/h</a:t>
            </a:r>
          </a:p>
          <a:p>
            <a:pPr algn="l"/>
            <a:r>
              <a:rPr lang="en-US" sz="1400" dirty="0">
                <a:solidFill>
                  <a:srgbClr val="00B050"/>
                </a:solidFill>
              </a:rPr>
              <a:t>240km/h</a:t>
            </a:r>
          </a:p>
          <a:p>
            <a:pPr algn="l"/>
            <a:r>
              <a:rPr lang="en-US" sz="1400" dirty="0">
                <a:solidFill>
                  <a:srgbClr val="7030A0"/>
                </a:solidFill>
              </a:rPr>
              <a:t>320km/h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C901B-099D-47FF-99B4-B60CB074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28" y="1462967"/>
            <a:ext cx="9239172" cy="456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3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180502_CMP-PodiumAdvancedTechnologiesTheme-r01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251999" tIns="72000" rIns="90000" bIns="36000" rtlCol="0" anchor="t">
        <a:normAutofit/>
      </a:bodyPr>
      <a:lstStyle>
        <a:defPPr algn="l">
          <a:defRPr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80502_CMP-PodiumAdvancedTechnologiesTheme-r01" id="{2276B0BC-1047-4A59-8ED8-35CA57035170}" vid="{043C437F-D5DC-4876-9947-DE3586E9F32B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template_powerpoint</Template>
  <TotalTime>135</TotalTime>
  <Words>871</Words>
  <Application>Microsoft Office PowerPoint</Application>
  <PresentationFormat>Widescreen</PresentationFormat>
  <Paragraphs>304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Narrow</vt:lpstr>
      <vt:lpstr>Bebas Neue</vt:lpstr>
      <vt:lpstr>Calibri</vt:lpstr>
      <vt:lpstr>Gill Sans</vt:lpstr>
      <vt:lpstr>Helvetica Neue Light</vt:lpstr>
      <vt:lpstr>Lato Light</vt:lpstr>
      <vt:lpstr>Lato Regular</vt:lpstr>
      <vt:lpstr>180502_CMP-PodiumAdvancedTechnologiesTheme-r01</vt:lpstr>
      <vt:lpstr>2_TemaPODIUM</vt:lpstr>
      <vt:lpstr>PowerPoint Presentation</vt:lpstr>
      <vt:lpstr>PowerPoint Presentation</vt:lpstr>
      <vt:lpstr>Introduction</vt:lpstr>
      <vt:lpstr>Vehicle setup for simulations</vt:lpstr>
      <vt:lpstr>Damping hypothesis</vt:lpstr>
      <vt:lpstr>Straight Line Coasting</vt:lpstr>
      <vt:lpstr>Maximum Speed Braking</vt:lpstr>
      <vt:lpstr>Constant Speed Steer Ramp</vt:lpstr>
      <vt:lpstr>Constant Speed Steer Ramp - Plots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Stefano Rapisarda</dc:creator>
  <cp:lastModifiedBy>Stefano Rapisarda</cp:lastModifiedBy>
  <cp:revision>25</cp:revision>
  <dcterms:created xsi:type="dcterms:W3CDTF">2019-11-14T11:06:13Z</dcterms:created>
  <dcterms:modified xsi:type="dcterms:W3CDTF">2019-11-14T13:21:54Z</dcterms:modified>
</cp:coreProperties>
</file>