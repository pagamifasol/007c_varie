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8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5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3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845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401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2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882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307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86127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61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0755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4949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0355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25264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65589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5503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6503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4074178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47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69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0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145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12200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567256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2767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456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296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832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274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8796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12276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012936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1755695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8684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6289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30993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467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172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9882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552253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2F23-4730-4B1B-A853-406FC3F6A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C48F2-A39D-4E65-BADC-441EF5A8C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84E89-D2C0-494E-B4BE-1BFFBF59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FF14-A687-4A32-89B7-3468824232AB}" type="datetimeFigureOut">
              <a:rPr lang="en-GB" smtClean="0"/>
              <a:t>30/10/2020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64BE-F343-4075-BCC6-AF0F0917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990A-D270-44BE-A592-7B424A31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1436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206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621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46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5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145336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05669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516700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5964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79254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03505218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83107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66046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59498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303873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700762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87601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48738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8706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548986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552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615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294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4870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49869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65292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149490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2838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3437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90396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61124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1023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0156780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982363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3100972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6367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19228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08955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95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377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7164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04402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4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5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17CD-5330-4C25-A9F1-4D4945945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P074 – SCG LMH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C4443-129D-4573-AE6B-20797F6311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Base setup definition</a:t>
            </a:r>
          </a:p>
        </p:txBody>
      </p:sp>
    </p:spTree>
    <p:extLst>
      <p:ext uri="{BB962C8B-B14F-4D97-AF65-F5344CB8AC3E}">
        <p14:creationId xmlns:p14="http://schemas.microsoft.com/office/powerpoint/2010/main" val="2111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DC2358-EAA7-4CDD-BFBB-C5026EDE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3CE67-C460-4464-9E32-87D2440C1867}"/>
              </a:ext>
            </a:extLst>
          </p:cNvPr>
          <p:cNvSpPr txBox="1"/>
          <p:nvPr/>
        </p:nvSpPr>
        <p:spPr>
          <a:xfrm>
            <a:off x="276837" y="1291905"/>
            <a:ext cx="66624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Main targets: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Roll stiffness tot/distribution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Heave minimum stiffness</a:t>
            </a:r>
          </a:p>
          <a:p>
            <a:endParaRPr lang="en-GB" dirty="0"/>
          </a:p>
          <a:p>
            <a:r>
              <a:rPr lang="en-GB" dirty="0"/>
              <a:t>-    Control aero-balance</a:t>
            </a:r>
          </a:p>
          <a:p>
            <a:pPr marL="285750" indent="-285750">
              <a:buFontTx/>
              <a:buChar char="-"/>
            </a:pPr>
            <a:r>
              <a:rPr lang="en-GB" dirty="0"/>
              <a:t>Control RHs via 3</a:t>
            </a:r>
            <a:r>
              <a:rPr lang="en-GB" baseline="30000" dirty="0"/>
              <a:t>rd</a:t>
            </a:r>
            <a:r>
              <a:rPr lang="en-GB" dirty="0"/>
              <a:t> elements (more/less non linear, </a:t>
            </a:r>
            <a:r>
              <a:rPr lang="en-GB" dirty="0" err="1"/>
              <a:t>EoS</a:t>
            </a:r>
            <a:r>
              <a:rPr lang="en-GB" dirty="0"/>
              <a:t> RH)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-    Check bodywork dynamic clearances 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0B3CC11-6620-47D4-B312-E79BCEFF93CB}"/>
              </a:ext>
            </a:extLst>
          </p:cNvPr>
          <p:cNvSpPr/>
          <p:nvPr/>
        </p:nvSpPr>
        <p:spPr>
          <a:xfrm>
            <a:off x="3456264" y="1736521"/>
            <a:ext cx="234892" cy="7885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6F24EE-AA08-4F80-920C-2549A45C0EB8}"/>
              </a:ext>
            </a:extLst>
          </p:cNvPr>
          <p:cNvCxnSpPr>
            <a:stCxn id="6" idx="1"/>
          </p:cNvCxnSpPr>
          <p:nvPr/>
        </p:nvCxnSpPr>
        <p:spPr>
          <a:xfrm>
            <a:off x="3691156" y="2130804"/>
            <a:ext cx="1216404" cy="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A75611-597D-4F3D-81DE-B86FBE16240F}"/>
              </a:ext>
            </a:extLst>
          </p:cNvPr>
          <p:cNvSpPr txBox="1"/>
          <p:nvPr/>
        </p:nvSpPr>
        <p:spPr>
          <a:xfrm>
            <a:off x="5025006" y="1946246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ARB and lateral coil springs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630DB3-30A9-42E5-90AF-BD1E9FE7853B}"/>
              </a:ext>
            </a:extLst>
          </p:cNvPr>
          <p:cNvCxnSpPr/>
          <p:nvPr/>
        </p:nvCxnSpPr>
        <p:spPr>
          <a:xfrm>
            <a:off x="6870583" y="3137483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3157D1-5C8E-48BB-ACFA-8CE3F2492852}"/>
              </a:ext>
            </a:extLst>
          </p:cNvPr>
          <p:cNvSpPr txBox="1"/>
          <p:nvPr/>
        </p:nvSpPr>
        <p:spPr>
          <a:xfrm>
            <a:off x="7390701" y="2969918"/>
            <a:ext cx="33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springs and Belleville stacks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7BA1A9-DC43-46DD-8998-A8FDD88E3631}"/>
              </a:ext>
            </a:extLst>
          </p:cNvPr>
          <p:cNvCxnSpPr/>
          <p:nvPr/>
        </p:nvCxnSpPr>
        <p:spPr>
          <a:xfrm>
            <a:off x="4572000" y="3934437"/>
            <a:ext cx="889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FCC461-290D-4F25-9867-BAD75621DC6F}"/>
              </a:ext>
            </a:extLst>
          </p:cNvPr>
          <p:cNvSpPr txBox="1"/>
          <p:nvPr/>
        </p:nvSpPr>
        <p:spPr>
          <a:xfrm>
            <a:off x="5595457" y="3791824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Lateral damper bump-stops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E7C5679-0604-46B2-9E06-49B1F450689A}"/>
              </a:ext>
            </a:extLst>
          </p:cNvPr>
          <p:cNvSpPr/>
          <p:nvPr/>
        </p:nvSpPr>
        <p:spPr>
          <a:xfrm>
            <a:off x="10428089" y="1946246"/>
            <a:ext cx="578840" cy="14827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22989-85CC-4167-B09E-72F0A01899E1}"/>
              </a:ext>
            </a:extLst>
          </p:cNvPr>
          <p:cNvSpPr txBox="1"/>
          <p:nvPr/>
        </p:nvSpPr>
        <p:spPr>
          <a:xfrm>
            <a:off x="11006929" y="25029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Damping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99B9E5-909E-4C4E-AE74-BD40C518503B}"/>
              </a:ext>
            </a:extLst>
          </p:cNvPr>
          <p:cNvSpPr txBox="1"/>
          <p:nvPr/>
        </p:nvSpPr>
        <p:spPr>
          <a:xfrm>
            <a:off x="5079037" y="124867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Hardpoint options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27F7EA-6BB6-43AC-82A8-2CDDB22B4C7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651570" y="1433342"/>
            <a:ext cx="1427467" cy="601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501F14-A37F-482E-9AB6-03190D7306E2}"/>
              </a:ext>
            </a:extLst>
          </p:cNvPr>
          <p:cNvCxnSpPr>
            <a:cxnSpLocks/>
          </p:cNvCxnSpPr>
          <p:nvPr/>
        </p:nvCxnSpPr>
        <p:spPr>
          <a:xfrm flipH="1">
            <a:off x="3691157" y="1539076"/>
            <a:ext cx="1427466" cy="1333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77FF9E-A782-427A-A602-42F7C11B267B}"/>
              </a:ext>
            </a:extLst>
          </p:cNvPr>
          <p:cNvCxnSpPr>
            <a:cxnSpLocks/>
          </p:cNvCxnSpPr>
          <p:nvPr/>
        </p:nvCxnSpPr>
        <p:spPr>
          <a:xfrm flipH="1">
            <a:off x="4001549" y="1618008"/>
            <a:ext cx="1194934" cy="2106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981096-6378-4FE2-82DB-DF4A1F745295}"/>
              </a:ext>
            </a:extLst>
          </p:cNvPr>
          <p:cNvCxnSpPr/>
          <p:nvPr/>
        </p:nvCxnSpPr>
        <p:spPr>
          <a:xfrm>
            <a:off x="2910980" y="2872289"/>
            <a:ext cx="151002" cy="181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71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D6B8-D11D-4AD8-BAB1-4FA11BEC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Roll stiffness targets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B06E5-5FEB-485B-A335-FBF745FD8694}"/>
              </a:ext>
            </a:extLst>
          </p:cNvPr>
          <p:cNvSpPr txBox="1"/>
          <p:nvPr/>
        </p:nvSpPr>
        <p:spPr>
          <a:xfrm>
            <a:off x="285227" y="1317072"/>
            <a:ext cx="1178653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u="sng" dirty="0"/>
              <a:t>Total roll gradient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Bodywork clearance ~1.6deg max total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FIA homologation map scans up to 1.5deg max total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roll sensitivity of the aero map is quite high, better controlling a lot</a:t>
            </a:r>
          </a:p>
          <a:p>
            <a:endParaRPr lang="en-GB" sz="1600" dirty="0"/>
          </a:p>
          <a:p>
            <a:r>
              <a:rPr lang="en-GB" sz="1600" dirty="0"/>
              <a:t>Target: 0.5 deg/g with tyres deflection</a:t>
            </a:r>
          </a:p>
          <a:p>
            <a:r>
              <a:rPr lang="en-GB" sz="1600" dirty="0"/>
              <a:t>	0.35 deg/g kinematic</a:t>
            </a:r>
          </a:p>
          <a:p>
            <a:endParaRPr lang="en-GB" sz="1600" dirty="0"/>
          </a:p>
          <a:p>
            <a:r>
              <a:rPr lang="en-GB" sz="1600" u="sng" dirty="0"/>
              <a:t>Roll stiffness distribution</a:t>
            </a:r>
          </a:p>
          <a:p>
            <a:endParaRPr lang="en-GB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Michelin’s suggested aero-balance and weight-balance windows have been defined with 60% front roll stiffness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58% is also a typical value to start with, as in our case tyre widths already take care of the more rearward weight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Target range: 55 to 65 % on front axle, starting value 58%</a:t>
            </a:r>
          </a:p>
        </p:txBody>
      </p:sp>
    </p:spTree>
    <p:extLst>
      <p:ext uri="{BB962C8B-B14F-4D97-AF65-F5344CB8AC3E}">
        <p14:creationId xmlns:p14="http://schemas.microsoft.com/office/powerpoint/2010/main" val="243101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2645-9D55-47DB-BD94-DD5444A5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Lateral damper coil springs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A6AD9-6CEF-4DB2-A239-6527505C2EAD}"/>
              </a:ext>
            </a:extLst>
          </p:cNvPr>
          <p:cNvSpPr txBox="1"/>
          <p:nvPr/>
        </p:nvSpPr>
        <p:spPr>
          <a:xfrm>
            <a:off x="327171" y="1325461"/>
            <a:ext cx="11905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Since the primary aim is to control RHs and so aero-balance, we are not particularly concerned in having</a:t>
            </a:r>
          </a:p>
          <a:p>
            <a:r>
              <a:rPr lang="en-GB" dirty="0"/>
              <a:t>rear ride frequency &gt; front ride frequency</a:t>
            </a:r>
          </a:p>
          <a:p>
            <a:endParaRPr lang="en-GB" dirty="0"/>
          </a:p>
          <a:p>
            <a:r>
              <a:rPr lang="en-GB" dirty="0"/>
              <a:t>We choose initial lateral coil springs taking into account: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Target roll stiffness distribution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Much lower front axle heave travel</a:t>
            </a:r>
          </a:p>
          <a:p>
            <a:pPr marL="285750" indent="-285750">
              <a:buFontTx/>
              <a:buChar char="-"/>
            </a:pPr>
            <a:r>
              <a:rPr lang="en-GB" dirty="0"/>
              <a:t>Ride frequency vs speed plots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0628B2-BE1A-442F-A203-6E14F8D5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815" y="3429000"/>
            <a:ext cx="4456562" cy="2755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84728D-3CD0-4E11-BF54-967392DDB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3990432"/>
            <a:ext cx="3105150" cy="2114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5CCE4D-39DB-4AB9-AAE9-605F1305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203" y="3990432"/>
            <a:ext cx="31051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6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E30E-C45E-4DA9-99E2-4AD4D346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ARBs and lateral coil springs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59DC9-6F91-4BBF-9B83-9A2E6EF25AF9}"/>
              </a:ext>
            </a:extLst>
          </p:cNvPr>
          <p:cNvSpPr txBox="1"/>
          <p:nvPr/>
        </p:nvSpPr>
        <p:spPr>
          <a:xfrm>
            <a:off x="453006" y="1518407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Add rebound stop in simulation</a:t>
            </a:r>
          </a:p>
        </p:txBody>
      </p:sp>
    </p:spTree>
    <p:extLst>
      <p:ext uri="{BB962C8B-B14F-4D97-AF65-F5344CB8AC3E}">
        <p14:creationId xmlns:p14="http://schemas.microsoft.com/office/powerpoint/2010/main" val="313438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7C87-B476-495F-B4B1-C72CA10B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4062E-ACF1-4A7F-8683-B3E5E384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3" y="1558998"/>
            <a:ext cx="10866539" cy="44124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7D0F61-7AC5-4389-9A7A-C64C01D63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539" y="1150868"/>
            <a:ext cx="4242717" cy="2527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D7720-9AD3-4DA1-8602-5E85A683E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80" y="1150868"/>
            <a:ext cx="3412357" cy="2057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C949D-06CC-4099-8A61-4822DE994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57" y="4832060"/>
            <a:ext cx="3152607" cy="144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6969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WEC Hypercar Design Status Report 36_11.09.2020</Template>
  <TotalTime>513</TotalTime>
  <Words>239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Introduction</vt:lpstr>
      <vt:lpstr>1- Roll stiffness targets</vt:lpstr>
      <vt:lpstr>1- Lateral damper coil springs</vt:lpstr>
      <vt:lpstr>1- ARBs and lateral coil springs choice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14</cp:revision>
  <dcterms:created xsi:type="dcterms:W3CDTF">2020-10-21T07:35:03Z</dcterms:created>
  <dcterms:modified xsi:type="dcterms:W3CDTF">2020-10-30T09:52:38Z</dcterms:modified>
</cp:coreProperties>
</file>